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4.svg" ContentType="image/svg"/>
  <Override PartName="/ppt/media/image21.svg" ContentType="image/svg"/>
  <Override PartName="/ppt/media/image23.svg" ContentType="image/svg"/>
  <Override PartName="/ppt/media/image6.svg" ContentType="image/svg"/>
  <Override PartName="/ppt/media/image33.svg" ContentType="image/svg"/>
  <Override PartName="/ppt/media/image31.svg" ContentType="image/svg"/>
  <Override PartName="/ppt/media/image10.svg" ContentType="image/svg"/>
  <Override PartName="/ppt/media/image12.svg" ContentType="image/svg"/>
  <Override PartName="/ppt/media/image14.svg" ContentType="image/svg"/>
  <Override PartName="/ppt/media/image25.svg" ContentType="image/svg"/>
  <Override PartName="/ppt/media/image16.svg" ContentType="image/svg"/>
  <Override PartName="/ppt/media/image19.svg" ContentType="image/svg"/>
  <Override PartName="/ppt/media/image27.svg" ContentType="image/svg"/>
  <Override PartName="/ppt/media/image29.svg" ContentType="image/svg"/>
  <Override PartName="/ppt/media/image38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embeddedFontLst>
    <p:embeddedFont>
      <p:font typeface="Inter Bold"/>
    </p:embeddedFont>
    <p:embeddedFont>
      <p:font typeface="+mn-lt"/>
    </p:embeddedFont>
    <p:embeddedFont>
      <p:font typeface="Inter"/>
      <p:regular r:id="rId16"/>
      <p:bold r:id="rId16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_1_Inter_Regular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3D32A0-C76B-45E7-9B61-63E0B818130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ADB12C-4882-4AC4-B91B-7A54670902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1BE579-165C-49DD-BDD0-995D0C3111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4A3C9A-3134-4F96-A8D0-2790833954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AE1617-8FD5-4E3F-9A1D-2CCF3B872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0C2C33-3AC6-4502-8A30-EC752C60CD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B66A9-29A0-46D5-A36E-FF8F7E5C04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CD0A0-F364-4B2F-9BA3-A9A6F11120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E76066-5F7A-4CDE-9443-B495CDA40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29120-A687-4B23-87C4-5004EEE373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CE95F9-3710-41EA-9FAA-61E886E427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9FD39D-8CA5-4F50-A890-03D4B0C54C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68046-B7CD-4888-A612-ACEB7E1EA2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image" Target="../media/image32.png"/><Relationship Id="rId12" Type="http://schemas.openxmlformats.org/officeDocument/2006/relationships/image" Target="../media/image33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7.png"/><Relationship Id="rId7" Type="http://schemas.openxmlformats.org/officeDocument/2006/relationships/image" Target="../media/image38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496080" y="1715760"/>
            <a:ext cx="47224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Presença Web que Gera Resultados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96080" y="2814480"/>
            <a:ext cx="47224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3000"/>
              </a:lnSpc>
              <a:spcAft>
                <a:spcPts val="125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Arquitetura digital personalizada para pequenas empresas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Eduardo Sidegum — e-Sid Tech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0"/>
          <p:cNvSpPr/>
          <p:nvPr/>
        </p:nvSpPr>
        <p:spPr>
          <a:xfrm>
            <a:off x="3925080" y="484920"/>
            <a:ext cx="47224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Como seu negócio está na internet hoje?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925080" y="1583280"/>
            <a:ext cx="4722480" cy="85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1"/>
          <p:cNvSpPr/>
          <p:nvPr/>
        </p:nvSpPr>
        <p:spPr>
          <a:xfrm>
            <a:off x="4161960" y="1744200"/>
            <a:ext cx="4324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Preso nas redes sociais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161960" y="2050920"/>
            <a:ext cx="4324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Seu negócio vive dentro do Instagram e do WhatsApp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925080" y="2580120"/>
            <a:ext cx="4722480" cy="85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3"/>
          <p:cNvSpPr/>
          <p:nvPr/>
        </p:nvSpPr>
        <p:spPr>
          <a:xfrm>
            <a:off x="4161960" y="2741040"/>
            <a:ext cx="4324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Alcance imprevisível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161960" y="3047400"/>
            <a:ext cx="4324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Você posta todo dia, mas o alcance varia sem explicação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925080" y="3576960"/>
            <a:ext cx="4722480" cy="10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5"/>
          <p:cNvSpPr/>
          <p:nvPr/>
        </p:nvSpPr>
        <p:spPr>
          <a:xfrm>
            <a:off x="4161960" y="3737520"/>
            <a:ext cx="4324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Sem controle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161960" y="4044240"/>
            <a:ext cx="43246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Os clientes chegam, mas você não tem controle sobre como te encontram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0"/>
          <p:cNvSpPr/>
          <p:nvPr/>
        </p:nvSpPr>
        <p:spPr>
          <a:xfrm>
            <a:off x="3925080" y="565200"/>
            <a:ext cx="4722480" cy="13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O alcance que você conquistou não é seu — é alugado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3925080" y="2106720"/>
            <a:ext cx="318600" cy="31860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4385880" y="2155320"/>
            <a:ext cx="42616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Algoritmos mudam e seu alcance despenca do nada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3925080" y="2881800"/>
            <a:ext cx="318600" cy="31860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385880" y="2930400"/>
            <a:ext cx="4261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Você não possui uma base própria de clientes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3925080" y="3484440"/>
            <a:ext cx="318600" cy="31860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4385880" y="3533040"/>
            <a:ext cx="42616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Depender só de rede social gera instabilidade crônica nas vendas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3925080" y="4259520"/>
            <a:ext cx="318600" cy="31860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385880" y="4308120"/>
            <a:ext cx="4261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Um mês bom não garante o próximo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0"/>
          <p:cNvSpPr/>
          <p:nvPr/>
        </p:nvSpPr>
        <p:spPr>
          <a:xfrm>
            <a:off x="496080" y="489960"/>
            <a:ext cx="472248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Enquanto isso, seu cliente já está pesquisando no Google</a:t>
            </a:r>
            <a:endParaRPr lang="pt-BR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496080" y="1408320"/>
            <a:ext cx="4722480" cy="687240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622800" y="1535040"/>
            <a:ext cx="4469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Concorrente aparece, você não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622800" y="1788120"/>
            <a:ext cx="4469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Sem site próprio, quem aparece na busca é o concorrente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496080" y="2200320"/>
            <a:ext cx="4722480" cy="687240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22800" y="2327040"/>
            <a:ext cx="4469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Cliente não encontra sua marca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2800" y="2580120"/>
            <a:ext cx="4469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 cliente pesquisa, não encontra sua marca estruturada — e compra de outro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96080" y="2992680"/>
            <a:ext cx="4722480" cy="687240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22800" y="3119040"/>
            <a:ext cx="4469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Agência tradicional custa caro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622800" y="3372480"/>
            <a:ext cx="4469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Contratar agência tradicional custa caro e vem com mensalidade eterna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96080" y="3784680"/>
            <a:ext cx="4722480" cy="86832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22800" y="3911400"/>
            <a:ext cx="4469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Plataformas prontas não funcionam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22800" y="4164480"/>
            <a:ext cx="44694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Plataformas prontas (Wix, GoDaddy) geram sites que não ranqueiam nem convertem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96080" y="775080"/>
            <a:ext cx="81514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O que resolveria isso de vez?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6080" y="1501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"/>
          <p:cNvSpPr/>
          <p:nvPr/>
        </p:nvSpPr>
        <p:spPr>
          <a:xfrm>
            <a:off x="496080" y="2032920"/>
            <a:ext cx="3987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Presença web própria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96080" y="2339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Com código 100% seu, sem depender de plataforma de terceiros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60560" y="1501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3"/>
          <p:cNvSpPr/>
          <p:nvPr/>
        </p:nvSpPr>
        <p:spPr>
          <a:xfrm>
            <a:off x="4660560" y="2032920"/>
            <a:ext cx="3987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Sem mensalidade de plataforma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4660560" y="2339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Investimento único, previsível, sem cobranças recorrentes obrigatórias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96080" y="3076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5"/>
          <p:cNvSpPr/>
          <p:nvPr/>
        </p:nvSpPr>
        <p:spPr>
          <a:xfrm>
            <a:off x="496080" y="3608280"/>
            <a:ext cx="3987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Preparada para Google e 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96080" y="3914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Otimizada para os mecanismos de busca de hoje — Google e também inteligência artificial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660560" y="3076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7"/>
          <p:cNvSpPr/>
          <p:nvPr/>
        </p:nvSpPr>
        <p:spPr>
          <a:xfrm>
            <a:off x="4660560" y="3608280"/>
            <a:ext cx="3987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Entregue rápido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660560" y="3914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Com investimento único e previsível, sem surpresas no processo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0"/>
          <p:cNvSpPr/>
          <p:nvPr/>
        </p:nvSpPr>
        <p:spPr>
          <a:xfrm>
            <a:off x="496080" y="614880"/>
            <a:ext cx="472248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Modelo P.E.R.F.E.I.T.O. — Arquitetura Web Personalizada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96080" y="1552680"/>
            <a:ext cx="472248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Não é template. Não é site genérico. É arquitetura sob medida para o seu negócio.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6080" y="2046960"/>
            <a:ext cx="4722480" cy="127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114920" y="2185200"/>
            <a:ext cx="396540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Integrado às metodologias atuais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1114920" y="2444040"/>
            <a:ext cx="39654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Integrado às metodologias atuais de recomendação digital — o que significa que seu site é estruturado para ser encontrado tanto no Google quanto nas respostas de inteligência artificial que seus clientes usam todo dia.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96080" y="3435120"/>
            <a:ext cx="4722480" cy="10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4"/>
          <p:cNvSpPr/>
          <p:nvPr/>
        </p:nvSpPr>
        <p:spPr>
          <a:xfrm>
            <a:off x="1114920" y="3573360"/>
            <a:ext cx="396540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Personalizado para você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114920" y="3832200"/>
            <a:ext cx="3965400" cy="5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Cada projeto começa com um diagnóstico. Nada de copiar modelo padrão. Sua empresa tem uma identidade única — seu site também deve ter.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496080" y="502920"/>
            <a:ext cx="81514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Muito além de "pedir um site pronto para uma IA"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496080" y="1672560"/>
            <a:ext cx="8151480" cy="2967840"/>
          </a:xfrm>
          <a:prstGeom prst="roundRect">
            <a:avLst>
              <a:gd name="adj" fmla="val 2006"/>
            </a:avLst>
          </a:prstGeom>
          <a:noFill/>
          <a:ln w="4763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496080" y="2086200"/>
            <a:ext cx="815148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496080" y="2724120"/>
            <a:ext cx="815148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496080" y="3362040"/>
            <a:ext cx="815148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496080" y="3999960"/>
            <a:ext cx="815148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642600" y="1766880"/>
            <a:ext cx="3430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Critério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3899520" y="1766880"/>
            <a:ext cx="26161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Site Genérico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6342120" y="1766880"/>
            <a:ext cx="26161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Arquitetura e-Sid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42600" y="2178360"/>
            <a:ext cx="3430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Estrutura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3899520" y="217836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Modelo igual ao de mil outros sites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6342120" y="217836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Estrutura de dados sob medida para seu negócio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642600" y="2816280"/>
            <a:ext cx="3430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Otimização para 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3899520" y="2816280"/>
            <a:ext cx="26161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Sem estrutura para IA de busca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6342120" y="281628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Otimizado para mecanismos atuais de recomendação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42600" y="3454200"/>
            <a:ext cx="3430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Performance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3899520" y="3454200"/>
            <a:ext cx="26161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Performance básica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6342120" y="345420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Performance validada e acessibilidade completa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642600" y="4092480"/>
            <a:ext cx="3430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Transparência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3899520" y="409248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Você não entende o que foi entregue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342120" y="4092480"/>
            <a:ext cx="21589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Documentação clara — você entende e domina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96080" y="435600"/>
            <a:ext cx="8151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Entregáveis do Projeto</a:t>
            </a:r>
            <a:endParaRPr lang="pt-BR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496080" y="102564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622800" y="115236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23240" y="125280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3"/>
          <p:cNvSpPr/>
          <p:nvPr/>
        </p:nvSpPr>
        <p:spPr>
          <a:xfrm>
            <a:off x="622800" y="162252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Site profissional completo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22800" y="187560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Instalado e funcionando, pronto para receber clientes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4624200" y="102564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4750920" y="115236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51360" y="125280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7"/>
          <p:cNvSpPr/>
          <p:nvPr/>
        </p:nvSpPr>
        <p:spPr>
          <a:xfrm>
            <a:off x="4750920" y="162252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Código 100% seu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4750920" y="187560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Sem amarras, sem taxas escondidas, sem dependência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496080" y="228780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22800" y="241452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3240" y="251496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11"/>
          <p:cNvSpPr/>
          <p:nvPr/>
        </p:nvSpPr>
        <p:spPr>
          <a:xfrm>
            <a:off x="622800" y="288468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Documentação completa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622800" y="313776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Para pequenas alterações sem depender de terceiros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4624200" y="228780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4750920" y="241452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851360" y="251496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5"/>
          <p:cNvSpPr/>
          <p:nvPr/>
        </p:nvSpPr>
        <p:spPr>
          <a:xfrm>
            <a:off x="4750920" y="288468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Estruturação para buscas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4750920" y="313776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Encontrado em buscas tradicionais e por inteligência artificial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496080" y="355032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622800" y="367668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23240" y="377712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9"/>
          <p:cNvSpPr/>
          <p:nvPr/>
        </p:nvSpPr>
        <p:spPr>
          <a:xfrm>
            <a:off x="622800" y="414684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Performance garantida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622800" y="439992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Carregamento rápido validado em todos os dispositivos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1"/>
          <p:cNvSpPr/>
          <p:nvPr/>
        </p:nvSpPr>
        <p:spPr>
          <a:xfrm>
            <a:off x="4624200" y="3550320"/>
            <a:ext cx="4023360" cy="1157400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2"/>
          <p:cNvSpPr/>
          <p:nvPr/>
        </p:nvSpPr>
        <p:spPr>
          <a:xfrm>
            <a:off x="4750920" y="3676680"/>
            <a:ext cx="365040" cy="365040"/>
          </a:xfrm>
          <a:prstGeom prst="ellipse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851360" y="377712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3"/>
          <p:cNvSpPr/>
          <p:nvPr/>
        </p:nvSpPr>
        <p:spPr>
          <a:xfrm>
            <a:off x="4750920" y="4146840"/>
            <a:ext cx="376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Acessibilidade e LGPD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4750920" y="4399920"/>
            <a:ext cx="37699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4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Para todos os públicos, em conformidade com a legislação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96080" y="723600"/>
            <a:ext cx="81514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Investimento Único, Sem Mensalidade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496080" y="1538640"/>
            <a:ext cx="4327560" cy="1875960"/>
          </a:xfrm>
          <a:prstGeom prst="roundRect">
            <a:avLst>
              <a:gd name="adj" fmla="val 3173"/>
            </a:avLst>
          </a:prstGeom>
          <a:noFill/>
          <a:ln w="4763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96080" y="1952280"/>
            <a:ext cx="432756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496080" y="2363400"/>
            <a:ext cx="432756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496080" y="2774880"/>
            <a:ext cx="4327560" cy="86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2876040" y="1538640"/>
            <a:ext cx="8640" cy="187596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642600" y="1633320"/>
            <a:ext cx="2545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Produto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3020040" y="1633320"/>
            <a:ext cx="21142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Investimento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642600" y="2044440"/>
            <a:ext cx="2545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Landing Page Simples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3020040" y="2044440"/>
            <a:ext cx="21142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R$ 1.500 a R$ 2.500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642600" y="2455560"/>
            <a:ext cx="2545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Landing Page Completa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3020040" y="2455560"/>
            <a:ext cx="21142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R$ 2.500 a R$ 4.500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642600" y="2867040"/>
            <a:ext cx="20887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Microsite Institucional (3–5 páginas)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3020040" y="2867040"/>
            <a:ext cx="21142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R$ 4.500 a R$ 7.000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5174640" y="1538640"/>
            <a:ext cx="3477600" cy="1686600"/>
          </a:xfrm>
          <a:prstGeom prst="roundRect">
            <a:avLst>
              <a:gd name="adj" fmla="val 3530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preencoded.png"/>
          <p:cNvPicPr/>
          <p:nvPr/>
        </p:nvPicPr>
        <p:blipFill>
          <a:blip r:embed="rId1"/>
          <a:stretch/>
        </p:blipFill>
        <p:spPr>
          <a:xfrm>
            <a:off x="5316120" y="1753920"/>
            <a:ext cx="176760" cy="14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5"/>
          <p:cNvSpPr/>
          <p:nvPr/>
        </p:nvSpPr>
        <p:spPr>
          <a:xfrm>
            <a:off x="5635080" y="1701720"/>
            <a:ext cx="2875320" cy="13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Plano de Acompanhamento (opcional): R$ 97 a R$ 297/mês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 — não é mensalidade de plataforma. É um serviço separado, só se você quiser que eu cuide de atualizações. O site é seu, funciona sem ele.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5174640" y="3385080"/>
            <a:ext cx="34776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Cada investimento é único e previsível. Você sabe exatamente o que vai pagar antes de começar — sem surpresas, sem cobranças recorrentes obrigatórias.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96080" y="425160"/>
            <a:ext cx="81514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O Processo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496080" y="850680"/>
            <a:ext cx="8151480" cy="366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"/>
          <p:cNvSpPr/>
          <p:nvPr/>
        </p:nvSpPr>
        <p:spPr>
          <a:xfrm>
            <a:off x="1724040" y="958680"/>
            <a:ext cx="1426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Diagnóstico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724040" y="1241640"/>
            <a:ext cx="14263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8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Entendo negócio, público e concorrência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3134880" y="3783240"/>
            <a:ext cx="14338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Arquitetura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3134880" y="4066560"/>
            <a:ext cx="14338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8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Projeto sob medida aprovado por você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4530240" y="1004760"/>
            <a:ext cx="1426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Geração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4530240" y="1287720"/>
            <a:ext cx="142632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8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IA acelera com supervisão humana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941080" y="3636000"/>
            <a:ext cx="1426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Validação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1080" y="3919320"/>
            <a:ext cx="142632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8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Testes de performance, acessibilidade e busca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496080" y="4591080"/>
            <a:ext cx="86086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1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Cada etapa é documentada e aprovada por você. Nenhuma decisão é tomada sem o seu conhecimento — porque no final, o site é seu e você precisa entender o que foi construído.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496080" y="1437840"/>
            <a:ext cx="3052800" cy="166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Shape 0"/>
          <p:cNvSpPr/>
          <p:nvPr/>
        </p:nvSpPr>
        <p:spPr>
          <a:xfrm>
            <a:off x="3899880" y="1290960"/>
            <a:ext cx="1071000" cy="21492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3984840" y="1333440"/>
            <a:ext cx="13582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QUEM ENTREGA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3899880" y="1563120"/>
            <a:ext cx="47523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Eduardo Sidegum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3899880" y="2147760"/>
            <a:ext cx="475236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Minha formação me deu uma lente incomum: enquanto a maioria olha para produtos isolados, eu olho para sistemas completos. A rotina do cliente é um processo. Os hábitos são dados. Os resultados são métricas. Toda melhoria sustentável nasce de um diagnóstico bem feito — não de chutes.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77000" y="3549960"/>
            <a:ext cx="2617920" cy="48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4"/>
          <p:cNvSpPr/>
          <p:nvPr/>
        </p:nvSpPr>
        <p:spPr>
          <a:xfrm>
            <a:off x="676080" y="3569040"/>
            <a:ext cx="24188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Microsoft System Engineer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253320" y="3549960"/>
            <a:ext cx="2617920" cy="48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5"/>
          <p:cNvSpPr/>
          <p:nvPr/>
        </p:nvSpPr>
        <p:spPr>
          <a:xfrm>
            <a:off x="3452400" y="3569040"/>
            <a:ext cx="24188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Bacharel em Sistemas de Informação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029640" y="3549960"/>
            <a:ext cx="2617920" cy="48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6"/>
          <p:cNvSpPr/>
          <p:nvPr/>
        </p:nvSpPr>
        <p:spPr>
          <a:xfrm>
            <a:off x="6228720" y="3569040"/>
            <a:ext cx="24188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Arquiteto de Sistemas Web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0"/>
          <p:cNvSpPr/>
          <p:nvPr/>
        </p:nvSpPr>
        <p:spPr>
          <a:xfrm>
            <a:off x="3925080" y="393840"/>
            <a:ext cx="472248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Pronto para ter presença web própria?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3925080" y="1273320"/>
            <a:ext cx="4722480" cy="20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Invista uma vez. Seja dono do seu espaço digital. Sem mensalidade.</a:t>
            </a:r>
            <a:endParaRPr lang="pt-BR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3925080" y="3444120"/>
            <a:ext cx="4722480" cy="1305360"/>
          </a:xfrm>
          <a:prstGeom prst="roundRect">
            <a:avLst>
              <a:gd name="adj" fmla="val 3776"/>
            </a:avLst>
          </a:prstGeom>
          <a:solidFill>
            <a:srgbClr val="DADBF1"/>
          </a:solidFill>
          <a:ln w="4763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3929760" y="3448800"/>
            <a:ext cx="4712760" cy="647640"/>
          </a:xfrm>
          <a:custGeom>
            <a:avLst/>
            <a:gdLst>
              <a:gd name="textAreaLeft" fmla="*/ 0 w 4712760"/>
              <a:gd name="textAreaRight" fmla="*/ 4713120 w 4712760"/>
              <a:gd name="textAreaTop" fmla="*/ 0 h 647640"/>
              <a:gd name="textAreaBottom" fmla="*/ 648000 h 647640"/>
            </a:gdLst>
            <a:ahLst/>
            <a:cxnLst/>
            <a:rect l="textAreaLeft" t="textAreaTop" r="textAreaRight" b="textAreaBottom"/>
            <a:pathLst>
              <a:path w="4713238" h="648072">
                <a:moveTo>
                  <a:pt x="41090" y="0"/>
                </a:moveTo>
                <a:lnTo>
                  <a:pt x="4672147" y="0"/>
                </a:lnTo>
                <a:arcTo wR="41090" hR="41090" stAng="16200000" swAng="5400000"/>
                <a:lnTo>
                  <a:pt x="4713238" y="648072"/>
                </a:lnTo>
                <a:lnTo>
                  <a:pt x="0" y="648072"/>
                </a:lnTo>
                <a:lnTo>
                  <a:pt x="0" y="41090"/>
                </a:lnTo>
                <a:arcTo wR="41090" hR="41090" stAng="10800000" swAng="5400000"/>
                <a:close/>
              </a:path>
            </a:pathLst>
          </a:cu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4047120" y="3566160"/>
            <a:ext cx="44780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Fale agora pelo WhatsApp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4047120" y="3807720"/>
            <a:ext cx="447804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wa.me/5551999663200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3929760" y="4096800"/>
            <a:ext cx="4712760" cy="647640"/>
          </a:xfrm>
          <a:custGeom>
            <a:avLst/>
            <a:gdLst>
              <a:gd name="textAreaLeft" fmla="*/ 0 w 4712760"/>
              <a:gd name="textAreaRight" fmla="*/ 4713120 w 4712760"/>
              <a:gd name="textAreaTop" fmla="*/ 0 h 647640"/>
              <a:gd name="textAreaBottom" fmla="*/ 648000 h 647640"/>
            </a:gdLst>
            <a:ahLst/>
            <a:cxnLst/>
            <a:rect l="textAreaLeft" t="textAreaTop" r="textAreaRight" b="textAreaBottom"/>
            <a:pathLst>
              <a:path w="4713238" h="648072">
                <a:moveTo>
                  <a:pt x="0" y="0"/>
                </a:moveTo>
                <a:lnTo>
                  <a:pt x="4713238" y="0"/>
                </a:lnTo>
                <a:lnTo>
                  <a:pt x="4713238" y="606982"/>
                </a:lnTo>
                <a:arcTo wR="41090" hR="41090" stAng="0" swAng="5400000"/>
                <a:lnTo>
                  <a:pt x="41090" y="648072"/>
                </a:lnTo>
                <a:arcTo wR="41090" hR="41090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3929760" y="4096800"/>
            <a:ext cx="4712760" cy="14040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4047120" y="4214160"/>
            <a:ext cx="44780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Eduardo Sidegum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4047120" y="4456080"/>
            <a:ext cx="447804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e-Sid Tech — Arquitetura Web para Pequenas Empresas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2026-07-29T21:23:17Z</dcterms:created>
  <dc:creator/>
  <dc:description/>
  <dc:language>pt-BR</dc:language>
  <cp:lastModifiedBy/>
  <dcterms:modified xsi:type="dcterms:W3CDTF">2026-07-29T21:23:17Z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